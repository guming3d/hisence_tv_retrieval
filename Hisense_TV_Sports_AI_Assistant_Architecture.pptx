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F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2500" b="1">
                <a:solidFill>
                  <a:srgbClr val="FFFFFF"/>
                </a:solidFill>
                <a:latin typeface="Segoe UI"/>
              </a:rPr>
              <a:t>Hisense TV Sports AI Assistant — Microsoft Foundry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AEC9D9"/>
                </a:solidFill>
                <a:latin typeface="Segoe UI"/>
              </a:rPr>
              <a:t>Remote AI key → STT → hosted LangGraph agent (responses protocol) on Azure AI Foundry Agent 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25296"/>
            <a:ext cx="11183112" cy="841248"/>
          </a:xfrm>
          <a:prstGeom prst="roundRect">
            <a:avLst>
              <a:gd name="adj" fmla="val 4500"/>
            </a:avLst>
          </a:prstGeom>
          <a:solidFill>
            <a:srgbClr val="0E2A3B"/>
          </a:solidFill>
          <a:ln w="158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25296"/>
            <a:ext cx="11183112" cy="310896"/>
          </a:xfrm>
          <a:prstGeom prst="roundRect">
            <a:avLst>
              <a:gd name="adj" fmla="val 6000"/>
            </a:avLst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4121B"/>
                </a:solidFill>
                <a:latin typeface="Segoe UI"/>
              </a:rPr>
              <a:t>Agent Optimizer  ·  Evaluation &amp;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6" y="1591056"/>
            <a:ext cx="2615184" cy="402336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GenAI tracing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AEC9D9"/>
                </a:solidFill>
                <a:latin typeface="Segoe UI"/>
              </a:rPr>
              <a:t>OpenTelemetry instrumentation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33572" y="1591056"/>
            <a:ext cx="2615184" cy="402336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Batch + continuous eval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AEC9D9"/>
                </a:solidFill>
                <a:latin typeface="Segoe UI"/>
              </a:rPr>
              <a:t>seed dataset · graders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591056"/>
            <a:ext cx="2615184" cy="402336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Auto-optimize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AEC9D9"/>
                </a:solidFill>
                <a:latin typeface="Segoe UI"/>
              </a:rPr>
              <a:t>instruction / model tuning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47404" y="1591056"/>
            <a:ext cx="2615184" cy="402336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Application Insights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AEC9D9"/>
                </a:solidFill>
                <a:latin typeface="Segoe UI"/>
              </a:rPr>
              <a:t>Log Analytics workspace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304288"/>
            <a:ext cx="2331720" cy="2487168"/>
          </a:xfrm>
          <a:prstGeom prst="roundRect">
            <a:avLst>
              <a:gd name="adj" fmla="val 4500"/>
            </a:avLst>
          </a:prstGeom>
          <a:solidFill>
            <a:srgbClr val="0E2A3B"/>
          </a:solidFill>
          <a:ln w="158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2304288"/>
            <a:ext cx="2331720" cy="310896"/>
          </a:xfrm>
          <a:prstGeom prst="roundRect">
            <a:avLst>
              <a:gd name="adj" fmla="val 6000"/>
            </a:avLst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4121B"/>
                </a:solidFill>
                <a:latin typeface="Segoe UI"/>
              </a:rPr>
              <a:t>Input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24912"/>
            <a:ext cx="2020824" cy="365760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Hisense TV client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163824"/>
            <a:ext cx="2020824" cy="365760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Remote AI key → STT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602736"/>
            <a:ext cx="2020824" cy="1078992"/>
          </a:xfrm>
          <a:prstGeom prst="roundRect">
            <a:avLst>
              <a:gd name="adj" fmla="val 7000"/>
            </a:avLst>
          </a:prstGeom>
          <a:solidFill>
            <a:srgbClr val="103347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73152" tIns="64008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00A4EF"/>
                </a:solidFill>
                <a:latin typeface="Segoe UI"/>
              </a:rPr>
              <a:t>Natural-language query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• EPG schedule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• Live scores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• Player / team knowledge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• Playable recommendations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27248" y="2304288"/>
            <a:ext cx="5349240" cy="2487168"/>
          </a:xfrm>
          <a:prstGeom prst="roundRect">
            <a:avLst>
              <a:gd name="adj" fmla="val 4500"/>
            </a:avLst>
          </a:prstGeom>
          <a:solidFill>
            <a:srgbClr val="0E2A3B"/>
          </a:solidFill>
          <a:ln w="158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127248" y="2304288"/>
            <a:ext cx="5349240" cy="310896"/>
          </a:xfrm>
          <a:prstGeom prst="roundRect">
            <a:avLst>
              <a:gd name="adj" fmla="val 6000"/>
            </a:avLst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4121B"/>
                </a:solidFill>
                <a:latin typeface="Segoe UI"/>
              </a:rPr>
              <a:t>Foundry Agent Service  (hosted agent)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0128" y="2724912"/>
            <a:ext cx="4983479" cy="786384"/>
          </a:xfrm>
          <a:prstGeom prst="roundRect">
            <a:avLst>
              <a:gd name="adj" fmla="val 6000"/>
            </a:avLst>
          </a:prstGeom>
          <a:solidFill>
            <a:srgbClr val="103347"/>
          </a:solidFill>
          <a:ln w="15875">
            <a:solidFill>
              <a:srgbClr val="00A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Hosted LangGraph agent — responses 1.0.0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AEC9D9"/>
                </a:solidFill>
                <a:latin typeface="Segoe UI"/>
              </a:rPr>
              <a:t>Tool-calling loop  ·  streaming responses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10128" y="3602736"/>
            <a:ext cx="1588007" cy="457200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Microsoft Agent Framework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07864" y="3602736"/>
            <a:ext cx="1588007" cy="457200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GPT-4.1-mini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AEC9D9"/>
                </a:solidFill>
                <a:latin typeface="Segoe UI"/>
              </a:rPr>
              <a:t>GlobalStandard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05600" y="3602736"/>
            <a:ext cx="1588007" cy="457200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Secure isolated sandbox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0128" y="4151376"/>
            <a:ext cx="4983479" cy="457200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azd ai agent  ·  remote build / package / deploy  ·  code-deploy mode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32520" y="2304288"/>
            <a:ext cx="2953512" cy="2487168"/>
          </a:xfrm>
          <a:prstGeom prst="roundRect">
            <a:avLst>
              <a:gd name="adj" fmla="val 4500"/>
            </a:avLst>
          </a:prstGeom>
          <a:solidFill>
            <a:srgbClr val="0E2A3B"/>
          </a:solidFill>
          <a:ln w="158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32520" y="2304288"/>
            <a:ext cx="2953512" cy="310896"/>
          </a:xfrm>
          <a:prstGeom prst="roundRect">
            <a:avLst>
              <a:gd name="adj" fmla="val 6000"/>
            </a:avLst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4121B"/>
                </a:solidFill>
                <a:latin typeface="Segoe UI"/>
              </a:rPr>
              <a:t>Channels &amp; device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7112" y="2724912"/>
            <a:ext cx="2624328" cy="475488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Streamed answer → TV UI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AEC9D9"/>
                </a:solidFill>
                <a:latin typeface="Segoe UI"/>
              </a:rPr>
              <a:t>3–5 s response target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97112" y="3291840"/>
            <a:ext cx="2624328" cy="475488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tune_to_channel → device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AEC9D9"/>
                </a:solidFill>
                <a:latin typeface="Segoe UI"/>
              </a:rPr>
              <a:t>one-key jump to channel</a:t>
            </a:r>
          </a:p>
        </p:txBody>
      </p:sp>
      <p:sp>
        <p:nvSpPr>
          <p:cNvPr id="26" name="Oval 25"/>
          <p:cNvSpPr/>
          <p:nvPr/>
        </p:nvSpPr>
        <p:spPr>
          <a:xfrm>
            <a:off x="8997696" y="3383280"/>
            <a:ext cx="82296" cy="82296"/>
          </a:xfrm>
          <a:prstGeom prst="ellipse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897112" y="3858768"/>
            <a:ext cx="2624328" cy="475488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Personalized session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AEC9D9"/>
                </a:solidFill>
                <a:latin typeface="Segoe UI"/>
              </a:rPr>
              <a:t>viewer profile via Memory</a:t>
            </a:r>
          </a:p>
        </p:txBody>
      </p:sp>
      <p:sp>
        <p:nvSpPr>
          <p:cNvPr id="28" name="Oval 27"/>
          <p:cNvSpPr/>
          <p:nvPr/>
        </p:nvSpPr>
        <p:spPr>
          <a:xfrm>
            <a:off x="8997696" y="3950207"/>
            <a:ext cx="82296" cy="82296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2920" y="5029200"/>
            <a:ext cx="11183112" cy="1572768"/>
          </a:xfrm>
          <a:prstGeom prst="roundRect">
            <a:avLst>
              <a:gd name="adj" fmla="val 4500"/>
            </a:avLst>
          </a:prstGeom>
          <a:solidFill>
            <a:srgbClr val="0E2A3B"/>
          </a:solidFill>
          <a:ln w="15875">
            <a:solidFill>
              <a:srgbClr val="00B0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02920" y="5029200"/>
            <a:ext cx="11183112" cy="310896"/>
          </a:xfrm>
          <a:prstGeom prst="roundRect">
            <a:avLst>
              <a:gd name="adj" fmla="val 6000"/>
            </a:avLst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4121B"/>
                </a:solidFill>
                <a:latin typeface="Segoe UI"/>
              </a:rPr>
              <a:t>Tools &amp; knowledge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3232" y="5449824"/>
            <a:ext cx="7360920" cy="100584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77824" y="5358384"/>
            <a:ext cx="960120" cy="274320"/>
          </a:xfrm>
          <a:prstGeom prst="roundRect">
            <a:avLst>
              <a:gd name="adj" fmla="val 20000"/>
            </a:avLst>
          </a:prstGeom>
          <a:solidFill>
            <a:srgbClr val="0E2A3B"/>
          </a:solidFill>
          <a:ln w="12700">
            <a:solidFill>
              <a:srgbClr val="00A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A4EF"/>
                </a:solidFill>
                <a:latin typeface="Segoe UI"/>
              </a:rPr>
              <a:t>Toolbox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" y="5687568"/>
            <a:ext cx="1322222" cy="713232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foundry_iq_search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AEC9D9"/>
                </a:solidFill>
                <a:latin typeface="Segoe UI"/>
              </a:rPr>
              <a:t>Foundry IQ · Azure AI Search</a:t>
            </a:r>
          </a:p>
        </p:txBody>
      </p:sp>
      <p:sp>
        <p:nvSpPr>
          <p:cNvPr id="34" name="Oval 33"/>
          <p:cNvSpPr/>
          <p:nvPr/>
        </p:nvSpPr>
        <p:spPr>
          <a:xfrm>
            <a:off x="950976" y="5779007"/>
            <a:ext cx="82296" cy="82296"/>
          </a:xfrm>
          <a:prstGeom prst="ellipse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291486" y="5687568"/>
            <a:ext cx="1322222" cy="713232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webiq_search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AEC9D9"/>
                </a:solidFill>
                <a:latin typeface="Segoe UI"/>
              </a:rPr>
              <a:t>Web IQ · news / web</a:t>
            </a:r>
          </a:p>
        </p:txBody>
      </p:sp>
      <p:sp>
        <p:nvSpPr>
          <p:cNvPr id="36" name="Oval 35"/>
          <p:cNvSpPr/>
          <p:nvPr/>
        </p:nvSpPr>
        <p:spPr>
          <a:xfrm>
            <a:off x="2392070" y="5779007"/>
            <a:ext cx="82296" cy="82296"/>
          </a:xfrm>
          <a:prstGeom prst="ellipse">
            <a:avLst/>
          </a:prstGeom>
          <a:solidFill>
            <a:srgbClr val="00A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732580" y="5687568"/>
            <a:ext cx="1322222" cy="713232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query_schedule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AEC9D9"/>
                </a:solidFill>
                <a:latin typeface="Segoe UI"/>
              </a:rPr>
              <a:t>EPG · PostgreSQL SoR</a:t>
            </a:r>
          </a:p>
        </p:txBody>
      </p:sp>
      <p:sp>
        <p:nvSpPr>
          <p:cNvPr id="38" name="Oval 37"/>
          <p:cNvSpPr/>
          <p:nvPr/>
        </p:nvSpPr>
        <p:spPr>
          <a:xfrm>
            <a:off x="3833164" y="5779007"/>
            <a:ext cx="82296" cy="82296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173675" y="5687568"/>
            <a:ext cx="1322222" cy="713232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get_live_scores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AEC9D9"/>
                </a:solidFill>
                <a:latin typeface="Segoe UI"/>
              </a:rPr>
              <a:t>sports scores API</a:t>
            </a:r>
          </a:p>
        </p:txBody>
      </p:sp>
      <p:sp>
        <p:nvSpPr>
          <p:cNvPr id="40" name="Oval 39"/>
          <p:cNvSpPr/>
          <p:nvPr/>
        </p:nvSpPr>
        <p:spPr>
          <a:xfrm>
            <a:off x="5274259" y="5779007"/>
            <a:ext cx="82296" cy="82296"/>
          </a:xfrm>
          <a:prstGeom prst="ellipse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614769" y="5687568"/>
            <a:ext cx="1322222" cy="713232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4008" rIns="64008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tune_to_channel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AEC9D9"/>
                </a:solidFill>
                <a:latin typeface="Segoe UI"/>
              </a:rPr>
              <a:t>TV device command</a:t>
            </a:r>
          </a:p>
        </p:txBody>
      </p:sp>
      <p:sp>
        <p:nvSpPr>
          <p:cNvPr id="42" name="Oval 41"/>
          <p:cNvSpPr/>
          <p:nvPr/>
        </p:nvSpPr>
        <p:spPr>
          <a:xfrm>
            <a:off x="6715353" y="5779007"/>
            <a:ext cx="82296" cy="82296"/>
          </a:xfrm>
          <a:prstGeom prst="ellipse">
            <a:avLst/>
          </a:prstGeom>
          <a:solidFill>
            <a:srgbClr val="F25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229600" y="5449824"/>
            <a:ext cx="3291840" cy="1005840"/>
          </a:xfrm>
          <a:prstGeom prst="roundRect">
            <a:avLst>
              <a:gd name="adj" fmla="val 5000"/>
            </a:avLst>
          </a:prstGeom>
          <a:noFill/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394192" y="5358384"/>
            <a:ext cx="914400" cy="274320"/>
          </a:xfrm>
          <a:prstGeom prst="roundRect">
            <a:avLst>
              <a:gd name="adj" fmla="val 20000"/>
            </a:avLst>
          </a:prstGeom>
          <a:solidFill>
            <a:srgbClr val="0E2A3B"/>
          </a:solidFill>
          <a:ln w="12700">
            <a:solidFill>
              <a:srgbClr val="00A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00A4EF"/>
                </a:solidFill>
                <a:latin typeface="Segoe UI"/>
              </a:rPr>
              <a:t>Memory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75904" y="5678424"/>
            <a:ext cx="2999232" cy="310896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64008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remember_viewer_preference</a:t>
            </a:r>
          </a:p>
        </p:txBody>
      </p:sp>
      <p:sp>
        <p:nvSpPr>
          <p:cNvPr id="46" name="Oval 45"/>
          <p:cNvSpPr/>
          <p:nvPr/>
        </p:nvSpPr>
        <p:spPr>
          <a:xfrm>
            <a:off x="8476488" y="5769864"/>
            <a:ext cx="82296" cy="82296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75904" y="6007608"/>
            <a:ext cx="2999232" cy="310896"/>
          </a:xfrm>
          <a:prstGeom prst="roundRect">
            <a:avLst>
              <a:gd name="adj" fmla="val 16000"/>
            </a:avLst>
          </a:prstGeom>
          <a:solidFill>
            <a:srgbClr val="14394F"/>
          </a:solidFill>
          <a:ln w="12700">
            <a:solidFill>
              <a:srgbClr val="2A6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64008" tIns="27432" bIns="27432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recall_viewer_preferences</a:t>
            </a:r>
          </a:p>
        </p:txBody>
      </p:sp>
      <p:sp>
        <p:nvSpPr>
          <p:cNvPr id="48" name="Oval 47"/>
          <p:cNvSpPr/>
          <p:nvPr/>
        </p:nvSpPr>
        <p:spPr>
          <a:xfrm>
            <a:off x="8476488" y="6099048"/>
            <a:ext cx="82296" cy="82296"/>
          </a:xfrm>
          <a:prstGeom prst="ellipse">
            <a:avLst/>
          </a:prstGeom>
          <a:solidFill>
            <a:srgbClr val="7FB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375904" y="6327648"/>
            <a:ext cx="2999232" cy="182880"/>
          </a:xfrm>
          <a:prstGeom prst="roundRect">
            <a:avLst>
              <a:gd name="adj" fmla="val 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AEC9D9"/>
                </a:solidFill>
                <a:latin typeface="Segoe UI"/>
              </a:rPr>
              <a:t>Foundry managed memory store · per-viewer scope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834640" y="3547872"/>
            <a:ext cx="292608" cy="0"/>
          </a:xfrm>
          <a:prstGeom prst="line">
            <a:avLst/>
          </a:prstGeom>
          <a:ln w="22225">
            <a:solidFill>
              <a:srgbClr val="00A4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476488" y="3547872"/>
            <a:ext cx="256032" cy="0"/>
          </a:xfrm>
          <a:prstGeom prst="line">
            <a:avLst/>
          </a:prstGeom>
          <a:ln w="22225">
            <a:solidFill>
              <a:srgbClr val="00A4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801868" y="2066544"/>
            <a:ext cx="0" cy="237744"/>
          </a:xfrm>
          <a:prstGeom prst="line">
            <a:avLst/>
          </a:prstGeom>
          <a:ln w="22225">
            <a:solidFill>
              <a:srgbClr val="00A4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801868" y="4791456"/>
            <a:ext cx="0" cy="237744"/>
          </a:xfrm>
          <a:prstGeom prst="line">
            <a:avLst/>
          </a:prstGeom>
          <a:ln w="22225">
            <a:solidFill>
              <a:srgbClr val="00A4E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